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1556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537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1518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6460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1441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6422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1403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1364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6345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1326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86307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61288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" y="502920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8600" y="125272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8600" y="2002536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" y="2752344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8600" y="3502152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" y="4251959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" y="500176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8600" y="5751575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4048"/>
            <a:ext cx="8778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CF2F7"/>
                </a:solidFill>
                <a:latin typeface="Malgun Gothic"/>
              </a:rPr>
              <a:t>Spring AI 학습 작전도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1005840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1A4B8"/>
                </a:solidFill>
                <a:latin typeface="Malgun Gothic"/>
              </a:rPr>
              <a:t>Day1 첫 호출에서 Day2 구조화 응답까지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3891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DCC"/>
                </a:solidFill>
                <a:latin typeface="Malgun Gothic"/>
              </a:rPr>
              <a:t>DAY1-DAY2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1600200"/>
            <a:ext cx="2057400" cy="86868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1719072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91A4B8"/>
                </a:solidFill>
                <a:latin typeface="Malgun Gothic"/>
              </a:rPr>
              <a:t>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1993392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DDCC"/>
                </a:solidFill>
                <a:latin typeface="Malgun Gothic"/>
              </a:rPr>
              <a:t>2 DAYS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1600200"/>
            <a:ext cx="2057400" cy="86868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1719072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91A4B8"/>
                </a:solidFill>
                <a:latin typeface="Malgun Gothic"/>
              </a:rPr>
              <a:t>CORE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1993392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688FF"/>
                </a:solidFill>
                <a:latin typeface="Malgun Gothic"/>
              </a:rPr>
              <a:t>C-S-C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66360" y="1600200"/>
            <a:ext cx="2057400" cy="86868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21808" y="1719072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91A4B8"/>
                </a:solidFill>
                <a:latin typeface="Malgun Gothic"/>
              </a:rPr>
              <a:t>OUTPUTS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1808" y="1993392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9E89D"/>
                </a:solidFill>
                <a:latin typeface="Malgun Gothic"/>
              </a:rPr>
              <a:t>6 APIs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1600200"/>
            <a:ext cx="2057400" cy="86868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2088" y="1719072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91A4B8"/>
                </a:solidFill>
                <a:latin typeface="Malgun Gothic"/>
              </a:rPr>
              <a:t>NEXT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62088" y="1993392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C057"/>
                </a:solidFill>
                <a:latin typeface="Malgun Gothic"/>
              </a:rPr>
              <a:t>PROMPT OPS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2743200"/>
            <a:ext cx="5303520" cy="260604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" y="285292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핵심 메시지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" y="3273552"/>
            <a:ext cx="48463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Day1은 AI를 Spring 앱에 연결한 날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Day2는 답변 형식을 통제하기 시작한 날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이제 ch03-prompt에서 프롬프트 전략을 비교한다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2743200"/>
            <a:ext cx="5257800" cy="260604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2852928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현재 위치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3273552"/>
            <a:ext cx="4800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Controller, Service, ChatClient 흐름 이해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String, Object, List 응답 처리 경험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URL, Gradle, Git까지 실전 문제 정리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1556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537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1518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6460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1441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6422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1403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1364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6345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1326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86307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61288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" y="502920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8600" y="125272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8600" y="2002536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" y="2752344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8600" y="3502152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" y="4251959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" y="500176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8600" y="5751575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4048"/>
            <a:ext cx="8778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CF2F7"/>
                </a:solidFill>
                <a:latin typeface="Malgun Gothic"/>
              </a:rPr>
              <a:t>학습 로드맵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1005840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1A4B8"/>
                </a:solidFill>
                <a:latin typeface="Malgun Gothic"/>
              </a:rPr>
              <a:t>기초 복습에서 프롬프트 기법 분석까지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3891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DCC"/>
                </a:solidFill>
                <a:latin typeface="Malgun Gothic"/>
              </a:rPr>
              <a:t>ROADMAP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2743200"/>
            <a:ext cx="1417320" cy="566928"/>
          </a:xfrm>
          <a:prstGeom prst="roundRect">
            <a:avLst/>
          </a:prstGeom>
          <a:solidFill>
            <a:srgbClr val="101B29"/>
          </a:solidFill>
          <a:ln w="15240">
            <a:solidFill>
              <a:srgbClr val="00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CF2F7"/>
                </a:solidFill>
                <a:latin typeface="Malgun Gothic"/>
              </a:rPr>
              <a:t>기초 복습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31720" y="2743200"/>
            <a:ext cx="1417320" cy="566928"/>
          </a:xfrm>
          <a:prstGeom prst="roundRect">
            <a:avLst/>
          </a:prstGeom>
          <a:solidFill>
            <a:srgbClr val="101B29"/>
          </a:solidFill>
          <a:ln w="15240">
            <a:solidFill>
              <a:srgbClr val="46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CF2F7"/>
                </a:solidFill>
                <a:latin typeface="Malgun Gothic"/>
              </a:rPr>
              <a:t>Day1</a:t>
            </a:r>
            <a:br/>
            <a:r>
              <a:t>첫 호출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77639" y="2743200"/>
            <a:ext cx="1417320" cy="566928"/>
          </a:xfrm>
          <a:prstGeom prst="roundRect">
            <a:avLst/>
          </a:prstGeom>
          <a:solidFill>
            <a:srgbClr val="101B29"/>
          </a:solidFill>
          <a:ln w="15240">
            <a:solidFill>
              <a:srgbClr val="59E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CF2F7"/>
                </a:solidFill>
                <a:latin typeface="Malgun Gothic"/>
              </a:rPr>
              <a:t>Controller</a:t>
            </a:r>
            <a:br/>
            <a:r>
              <a:t>Service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23560" y="2743200"/>
            <a:ext cx="1417320" cy="566928"/>
          </a:xfrm>
          <a:prstGeom prst="roundRect">
            <a:avLst/>
          </a:prstGeom>
          <a:solidFill>
            <a:srgbClr val="101B29"/>
          </a:solidFill>
          <a:ln w="15240">
            <a:solidFill>
              <a:srgbClr val="00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CF2F7"/>
                </a:solidFill>
                <a:latin typeface="Malgun Gothic"/>
              </a:rPr>
              <a:t>Day2</a:t>
            </a:r>
            <a:br/>
            <a:r>
              <a:t>Prompt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80" y="2743200"/>
            <a:ext cx="1417320" cy="566928"/>
          </a:xfrm>
          <a:prstGeom prst="roundRect">
            <a:avLst/>
          </a:prstGeom>
          <a:solidFill>
            <a:srgbClr val="101B29"/>
          </a:solidFill>
          <a:ln w="15240">
            <a:solidFill>
              <a:srgbClr val="FFC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CF2F7"/>
                </a:solidFill>
                <a:latin typeface="Malgun Gothic"/>
              </a:rPr>
              <a:t>Structured</a:t>
            </a:r>
            <a:br/>
            <a:r>
              <a:t>Output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2743200"/>
            <a:ext cx="1417320" cy="566928"/>
          </a:xfrm>
          <a:prstGeom prst="roundRect">
            <a:avLst/>
          </a:prstGeom>
          <a:solidFill>
            <a:srgbClr val="101B29"/>
          </a:solidFill>
          <a:ln w="15240">
            <a:solidFill>
              <a:srgbClr val="FF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CF2F7"/>
                </a:solidFill>
                <a:latin typeface="Malgun Gothic"/>
              </a:rPr>
              <a:t>환경/URL</a:t>
            </a:r>
            <a:br/>
            <a:r>
              <a:t>디버깅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61320" y="2743200"/>
            <a:ext cx="1417320" cy="566928"/>
          </a:xfrm>
          <a:prstGeom prst="roundRect">
            <a:avLst/>
          </a:prstGeom>
          <a:solidFill>
            <a:srgbClr val="101B29"/>
          </a:solidFill>
          <a:ln w="15240">
            <a:solidFill>
              <a:srgbClr val="00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CF2F7"/>
                </a:solidFill>
                <a:latin typeface="Malgun Gothic"/>
              </a:rPr>
              <a:t>ch03</a:t>
            </a:r>
            <a:br/>
            <a:r>
              <a:t>Prompt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103120" y="3026664"/>
            <a:ext cx="228600" cy="0"/>
          </a:xfrm>
          <a:prstGeom prst="line">
            <a:avLst/>
          </a:prstGeom>
          <a:ln w="1524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49040" y="3026664"/>
            <a:ext cx="228599" cy="0"/>
          </a:xfrm>
          <a:prstGeom prst="line">
            <a:avLst/>
          </a:prstGeom>
          <a:ln w="1524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394959" y="3026664"/>
            <a:ext cx="228601" cy="0"/>
          </a:xfrm>
          <a:prstGeom prst="line">
            <a:avLst/>
          </a:prstGeom>
          <a:ln w="1524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040880" y="3026664"/>
            <a:ext cx="228600" cy="0"/>
          </a:xfrm>
          <a:prstGeom prst="line">
            <a:avLst/>
          </a:prstGeom>
          <a:ln w="1524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86800" y="3026664"/>
            <a:ext cx="228600" cy="0"/>
          </a:xfrm>
          <a:prstGeom prst="line">
            <a:avLst/>
          </a:prstGeom>
          <a:ln w="1524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332720" y="3026664"/>
            <a:ext cx="228600" cy="0"/>
          </a:xfrm>
          <a:prstGeom prst="line">
            <a:avLst/>
          </a:prstGeom>
          <a:ln w="1524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4160520"/>
            <a:ext cx="10332720" cy="123444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8992" y="4270248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읽는 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" y="469087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왼쪽은 배운 순서, 오른쪽은 앞으로 확장할 주제입니다.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중앙의 Controller -&gt; Service -&gt; ChatClient가 모든 예제의 공통 뼈대입니다.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1556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537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1518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6460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1441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6422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1403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1364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6345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1326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86307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61288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" y="502920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8600" y="125272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8600" y="2002536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" y="2752344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8600" y="3502152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" y="4251959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" y="500176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8600" y="5751575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4048"/>
            <a:ext cx="8778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CF2F7"/>
                </a:solidFill>
                <a:latin typeface="Malgun Gothic"/>
              </a:rPr>
              <a:t>공통 실행 흐름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1005840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1A4B8"/>
                </a:solidFill>
                <a:latin typeface="Malgun Gothic"/>
              </a:rPr>
              <a:t>모든 API가 같은 통로를 지나갑니다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3891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DCC"/>
                </a:solidFill>
                <a:latin typeface="Malgun Gothic"/>
              </a:rPr>
              <a:t>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788920"/>
            <a:ext cx="1325880" cy="713232"/>
          </a:xfrm>
          <a:prstGeom prst="roundRect">
            <a:avLst/>
          </a:prstGeom>
          <a:solidFill>
            <a:srgbClr val="101B29"/>
          </a:solidFill>
          <a:ln w="15240">
            <a:solidFill>
              <a:srgbClr val="00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CF2F7"/>
                </a:solidFill>
                <a:latin typeface="Malgun Gothic"/>
              </a:rPr>
              <a:t>User</a:t>
            </a:r>
            <a:br/>
            <a:r>
              <a:t>Browser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14600" y="2788920"/>
            <a:ext cx="1417320" cy="713232"/>
          </a:xfrm>
          <a:prstGeom prst="roundRect">
            <a:avLst/>
          </a:prstGeom>
          <a:solidFill>
            <a:srgbClr val="101B29"/>
          </a:solidFill>
          <a:ln w="15240">
            <a:solidFill>
              <a:srgbClr val="46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CF2F7"/>
                </a:solidFill>
                <a:latin typeface="Malgun Gothic"/>
              </a:rPr>
              <a:t>Controller</a:t>
            </a:r>
            <a:br/>
            <a:r>
              <a:t>Request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2788920"/>
            <a:ext cx="1417320" cy="713232"/>
          </a:xfrm>
          <a:prstGeom prst="roundRect">
            <a:avLst/>
          </a:prstGeom>
          <a:solidFill>
            <a:srgbClr val="101B29"/>
          </a:solidFill>
          <a:ln w="15240">
            <a:solidFill>
              <a:srgbClr val="59E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CF2F7"/>
                </a:solidFill>
                <a:latin typeface="Malgun Gothic"/>
              </a:rPr>
              <a:t>Service</a:t>
            </a:r>
            <a:br/>
            <a:r>
              <a:t>Prompt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2788920"/>
            <a:ext cx="1417320" cy="713232"/>
          </a:xfrm>
          <a:prstGeom prst="roundRect">
            <a:avLst/>
          </a:prstGeom>
          <a:solidFill>
            <a:srgbClr val="101B29"/>
          </a:solidFill>
          <a:ln w="15240">
            <a:solidFill>
              <a:srgbClr val="00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CF2F7"/>
                </a:solidFill>
                <a:latin typeface="Malgun Gothic"/>
              </a:rPr>
              <a:t>ChatClient</a:t>
            </a:r>
            <a:br/>
            <a:r>
              <a:t>Call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2788920"/>
            <a:ext cx="1417320" cy="713232"/>
          </a:xfrm>
          <a:prstGeom prst="roundRect">
            <a:avLst/>
          </a:prstGeom>
          <a:solidFill>
            <a:srgbClr val="101B29"/>
          </a:solidFill>
          <a:ln w="15240">
            <a:solidFill>
              <a:srgbClr val="FFC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CF2F7"/>
                </a:solidFill>
                <a:latin typeface="Malgun Gothic"/>
              </a:rPr>
              <a:t>AI Model</a:t>
            </a:r>
            <a:br/>
            <a:r>
              <a:t>Generate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02368" y="2788920"/>
            <a:ext cx="1417320" cy="713232"/>
          </a:xfrm>
          <a:prstGeom prst="roundRect">
            <a:avLst/>
          </a:prstGeom>
          <a:solidFill>
            <a:srgbClr val="101B29"/>
          </a:solidFill>
          <a:ln w="15240">
            <a:solidFill>
              <a:srgbClr val="59E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CF2F7"/>
                </a:solidFill>
                <a:latin typeface="Malgun Gothic"/>
              </a:rPr>
              <a:t>Response</a:t>
            </a:r>
            <a:br/>
            <a:r>
              <a:t>Return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48840" y="3145536"/>
            <a:ext cx="365760" cy="0"/>
          </a:xfrm>
          <a:prstGeom prst="line">
            <a:avLst/>
          </a:prstGeom>
          <a:ln w="1524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931920" y="3145536"/>
            <a:ext cx="384048" cy="0"/>
          </a:xfrm>
          <a:prstGeom prst="line">
            <a:avLst/>
          </a:prstGeom>
          <a:ln w="1524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733288" y="3145536"/>
            <a:ext cx="411480" cy="0"/>
          </a:xfrm>
          <a:prstGeom prst="line">
            <a:avLst/>
          </a:prstGeom>
          <a:ln w="1524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62088" y="3145536"/>
            <a:ext cx="411480" cy="0"/>
          </a:xfrm>
          <a:prstGeom prst="line">
            <a:avLst/>
          </a:prstGeom>
          <a:ln w="1524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90888" y="3145536"/>
            <a:ext cx="411480" cy="0"/>
          </a:xfrm>
          <a:prstGeom prst="line">
            <a:avLst/>
          </a:prstGeom>
          <a:ln w="15240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0" y="379476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0ms 요청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78608" y="379476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688FF"/>
                </a:solidFill>
                <a:latin typeface="Malgun Gothic"/>
              </a:rPr>
              <a:t>10ms 파라미터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0832" y="379476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9E89D"/>
                </a:solidFill>
                <a:latin typeface="Malgun Gothic"/>
              </a:rPr>
              <a:t>20ms 프롬프트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2784" y="379476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60ms 호출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379476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FFC057"/>
                </a:solidFill>
                <a:latin typeface="Malgun Gothic"/>
              </a:rPr>
              <a:t>200ms+ 생성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379476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9E89D"/>
                </a:solidFill>
                <a:latin typeface="Malgun Gothic"/>
              </a:rPr>
              <a:t>결과 반환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1556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537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1518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6460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1441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6422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1403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1364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6345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1326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86307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61288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" y="502920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8600" y="125272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8600" y="2002536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" y="2752344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8600" y="3502152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" y="4251959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" y="500176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8600" y="5751575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4048"/>
            <a:ext cx="8778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CF2F7"/>
                </a:solidFill>
                <a:latin typeface="Malgun Gothic"/>
              </a:rPr>
              <a:t>Day1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1005840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1A4B8"/>
                </a:solidFill>
                <a:latin typeface="Malgun Gothic"/>
              </a:rPr>
              <a:t>AI를 앱에 연결하는 최소 단위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3891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DCC"/>
                </a:solidFill>
                <a:latin typeface="Malgun Gothic"/>
              </a:rPr>
              <a:t>FIRST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1600200"/>
            <a:ext cx="5303520" cy="434340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170992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배운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2130552"/>
            <a:ext cx="4846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@RestController: 요청을 받는 창구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@Service: 실제 작업 담당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@RequestParam: URL 값 꺼내기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prompt() -&gt; user() -&gt; call() -&gt; content()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600200"/>
            <a:ext cx="5257800" cy="434340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1709928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PYTHON으로 치면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2130552"/>
            <a:ext cx="4800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Flask route가 Controller 역할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일반 함수가 Service 역할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request.args.get(...)이 @RequestParam 역할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AI 호출 함수가 ChatClient 역할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1556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537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1518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6460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1441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6422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1403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1364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6345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1326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86307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61288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" y="502920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8600" y="125272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8600" y="2002536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" y="2752344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8600" y="3502152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" y="4251959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" y="500176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8600" y="5751575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4048"/>
            <a:ext cx="8778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CF2F7"/>
                </a:solidFill>
                <a:latin typeface="Malgun Gothic"/>
              </a:rPr>
              <a:t>Day2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1005840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1A4B8"/>
                </a:solidFill>
                <a:latin typeface="Malgun Gothic"/>
              </a:rPr>
              <a:t>질문을 설계하고 응답 모양을 통제하기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3891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DCC"/>
                </a:solidFill>
                <a:latin typeface="Malgun Gothic"/>
              </a:rPr>
              <a:t>PROMPT 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1600200"/>
            <a:ext cx="5303520" cy="434340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170992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PROMPT 설계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2130552"/>
            <a:ext cx="4846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그냥 질문하기에서 규칙 주기 단계로 이동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{text}, {audience}, {mood} 같은 자리표시자 사용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param()으로 실제 값을 넣음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AI에게 대상, 길이, 형식을 함께 지시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600200"/>
            <a:ext cx="5257800" cy="434340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1709928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STRUCTURED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2130552"/>
            <a:ext cx="4800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content(): 문자열 그대로 받기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entity(): 객체로 변환해 받기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record: 응답 모양 정의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List는 ParameterizedTypeReference로 타입 전달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1556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537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1518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6460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1441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6422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1403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1364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6345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1326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86307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61288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" y="502920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8600" y="125272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8600" y="2002536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" y="2752344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8600" y="3502152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" y="4251959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" y="500176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8600" y="5751575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4048"/>
            <a:ext cx="8778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CF2F7"/>
                </a:solidFill>
                <a:latin typeface="Malgun Gothic"/>
              </a:rPr>
              <a:t>기능 매트릭스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1005840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1A4B8"/>
                </a:solidFill>
                <a:latin typeface="Malgun Gothic"/>
              </a:rPr>
              <a:t>Day2에서 만든 API와 응답 형태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3891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DCC"/>
                </a:solidFill>
                <a:latin typeface="Malgun Gothic"/>
              </a:rPr>
              <a:t>MATRIX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1554480"/>
            <a:ext cx="10698480" cy="566928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1682495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DDCC"/>
                </a:solidFill>
                <a:latin typeface="Malgun Gothic"/>
              </a:rPr>
              <a:t>요약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1682495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CF2F7"/>
                </a:solidFill>
                <a:latin typeface="Malgun Gothic"/>
              </a:rPr>
              <a:t>/api/summary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1682495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CF2F7"/>
                </a:solidFill>
                <a:latin typeface="Malgun Gothic"/>
              </a:rPr>
              <a:t>String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2240280"/>
            <a:ext cx="10698480" cy="566928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2368296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688FF"/>
                </a:solidFill>
                <a:latin typeface="Malgun Gothic"/>
              </a:rPr>
              <a:t>분류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23682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CF2F7"/>
                </a:solidFill>
                <a:latin typeface="Malgun Gothic"/>
              </a:rPr>
              <a:t>/api/classify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2368296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CF2F7"/>
                </a:solidFill>
                <a:latin typeface="Malgun Gothic"/>
              </a:rPr>
              <a:t>String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2926080"/>
            <a:ext cx="10698480" cy="566928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3054096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C057"/>
                </a:solidFill>
                <a:latin typeface="Malgun Gothic"/>
              </a:rPr>
              <a:t>분류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30540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CF2F7"/>
                </a:solidFill>
                <a:latin typeface="Malgun Gothic"/>
              </a:rPr>
              <a:t>/api/classify/json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3054096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CF2F7"/>
                </a:solidFill>
                <a:latin typeface="Malgun Gothic"/>
              </a:rPr>
              <a:t>JSON text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611880"/>
            <a:ext cx="10698480" cy="566928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3739896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9E89D"/>
                </a:solidFill>
                <a:latin typeface="Malgun Gothic"/>
              </a:rPr>
              <a:t>분류 객체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3739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CF2F7"/>
                </a:solidFill>
                <a:latin typeface="Malgun Gothic"/>
              </a:rPr>
              <a:t>/api/classify/object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739896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CF2F7"/>
                </a:solidFill>
                <a:latin typeface="Malgun Gothic"/>
              </a:rPr>
              <a:t>InquiryResult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4297680"/>
            <a:ext cx="10698480" cy="566928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4425696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59E89D"/>
                </a:solidFill>
                <a:latin typeface="Malgun Gothic"/>
              </a:rPr>
              <a:t>영화 추천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44256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CF2F7"/>
                </a:solidFill>
                <a:latin typeface="Malgun Gothic"/>
              </a:rPr>
              <a:t>/api/movie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6440" y="4425696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CF2F7"/>
                </a:solidFill>
                <a:latin typeface="Malgun Gothic"/>
              </a:rPr>
              <a:t>List&lt;MovieResponse&gt;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983480"/>
            <a:ext cx="10698480" cy="566928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5111496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DDCC"/>
                </a:solidFill>
                <a:latin typeface="Malgun Gothic"/>
              </a:rPr>
              <a:t>준비물 추천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51114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CF2F7"/>
                </a:solidFill>
                <a:latin typeface="Malgun Gothic"/>
              </a:rPr>
              <a:t>/api/packing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6440" y="5111496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CF2F7"/>
                </a:solidFill>
                <a:latin typeface="Malgun Gothic"/>
              </a:rPr>
              <a:t>List&lt;String&gt;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1556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537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1518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6460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1441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6422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1403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1364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6345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1326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86307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61288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" y="502920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8600" y="125272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8600" y="2002536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" y="2752344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8600" y="3502152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" y="4251959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" y="500176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8600" y="5751575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4048"/>
            <a:ext cx="8778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CF2F7"/>
                </a:solidFill>
                <a:latin typeface="Malgun Gothic"/>
              </a:rPr>
              <a:t>디버깅에서 배운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1005840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1A4B8"/>
                </a:solidFill>
                <a:latin typeface="Malgun Gothic"/>
              </a:rPr>
              <a:t>코드보다 실행 상태가 문제인 경우도 많았습니다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3891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DCC"/>
                </a:solidFill>
                <a:latin typeface="Malgun Gothic"/>
              </a:rPr>
              <a:t>INCIDENTS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1508760"/>
            <a:ext cx="3429000" cy="448056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1618488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실행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2039112"/>
            <a:ext cx="297180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day01이 8080에 떠 있는데 day02 API 호출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IntelliJ 실행 대상 확인 필요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JDK 21과 Gradle JVM 정렬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1508760"/>
            <a:ext cx="3429000" cy="448056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1618488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2039112"/>
            <a:ext cx="297180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/api/classify/object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/api/classifyobject는 다른 주소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/api/packing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/packing은 다른 주소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1508760"/>
            <a:ext cx="3429000" cy="448056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1" y="1618488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문법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1" y="2039112"/>
            <a:ext cx="297180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record 필드는 괄호 안에 선언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entity 오타 주의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List 타입은 ParameterizedTypeReference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1556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86537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61518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364991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6460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1441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6422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1403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13648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63456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13264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863072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612880" y="320040"/>
            <a:ext cx="0" cy="621792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" y="502920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8600" y="125272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8600" y="2002536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" y="2752344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8600" y="3502152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" y="4251959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8600" y="5001768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8600" y="5751575"/>
            <a:ext cx="11704320" cy="0"/>
          </a:xfrm>
          <a:prstGeom prst="line">
            <a:avLst/>
          </a:prstGeom>
          <a:ln w="4445">
            <a:solidFill>
              <a:srgbClr val="243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4048"/>
            <a:ext cx="8778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CF2F7"/>
                </a:solidFill>
                <a:latin typeface="Malgun Gothic"/>
              </a:rPr>
              <a:t>다음 학습 지점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1005840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1A4B8"/>
                </a:solidFill>
                <a:latin typeface="Malgun Gothic"/>
              </a:rPr>
              <a:t>ch03-prompt는 프롬프트 전략 전시관입니다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38912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DDCC"/>
                </a:solidFill>
                <a:latin typeface="Malgun Gothic"/>
              </a:rPr>
              <a:t>NEXT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1600200"/>
            <a:ext cx="5303520" cy="434340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170992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CH03-PROMPT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2130552"/>
            <a:ext cx="4846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Prompt Template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Zero-shot / Few-shot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Role Assignment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Multi Messages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Step-back / Self-consistency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600200"/>
            <a:ext cx="5257800" cy="4343400"/>
          </a:xfrm>
          <a:prstGeom prst="rect">
            <a:avLst/>
          </a:prstGeom>
          <a:solidFill>
            <a:srgbClr val="0B121B"/>
          </a:solidFill>
          <a:ln w="8890">
            <a:solidFill>
              <a:srgbClr val="24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1709928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0DDCC"/>
                </a:solidFill>
                <a:latin typeface="Malgun Gothic"/>
              </a:rPr>
              <a:t>학습 목표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2130552"/>
            <a:ext cx="4800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같은 ChatClient라도 질문 전략에 따라 결과가 달라짐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기능 구현보다 프롬프트 설계 감각을 키움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CF2F7"/>
                </a:solidFill>
                <a:latin typeface="Malgun Gothic"/>
              </a:rPr>
              <a:t>Day2 구조화 응답과 결합하면 실전 기능이 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